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6eeca4f03f4fa1" /><Relationship Type="http://schemas.openxmlformats.org/officeDocument/2006/relationships/extended-properties" Target="/docProps/app.xml" Id="Rc48782b843b049b1" /><Relationship Type="http://schemas.openxmlformats.org/officeDocument/2006/relationships/officeDocument" Target="/ppt/presentation.xml" Id="R3ce6b32fecc7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25e3d906d4e8b"/>
  </p:sldMasterIdLst>
  <p:notesMasterIdLst>
    <p:notesMasterId xmlns:r="http://schemas.openxmlformats.org/officeDocument/2006/relationships" r:id="Rab45838981b84349"/>
  </p:notesMasterIdLst>
  <p:sldIdLst>
    <p:sldId xmlns:r="http://schemas.openxmlformats.org/officeDocument/2006/relationships" id="256" r:id="R8c2c7c9df7db4c3f"/>
    <p:sldId xmlns:r="http://schemas.openxmlformats.org/officeDocument/2006/relationships" id="257" r:id="Rfe947f8c5f124e65"/>
    <p:sldId xmlns:r="http://schemas.openxmlformats.org/officeDocument/2006/relationships" id="258" r:id="R66119665061a4cf2"/>
    <p:sldId xmlns:r="http://schemas.openxmlformats.org/officeDocument/2006/relationships" id="259" r:id="R764a39cc31484885"/>
    <p:sldId xmlns:r="http://schemas.openxmlformats.org/officeDocument/2006/relationships" id="260" r:id="R18c4360da93942d7"/>
    <p:sldId xmlns:r="http://schemas.openxmlformats.org/officeDocument/2006/relationships" id="261" r:id="R23803a4e4ab3434f"/>
    <p:sldId xmlns:r="http://schemas.openxmlformats.org/officeDocument/2006/relationships" id="262" r:id="Rfd167a2ee50c496b"/>
    <p:sldId xmlns:r="http://schemas.openxmlformats.org/officeDocument/2006/relationships" id="263" r:id="Reee3f0cb95614e56"/>
    <p:sldId xmlns:r="http://schemas.openxmlformats.org/officeDocument/2006/relationships" id="264" r:id="Rb45ba5402f4449ff"/>
    <p:sldId xmlns:r="http://schemas.openxmlformats.org/officeDocument/2006/relationships" id="265" r:id="R069ba2f63c534f38"/>
    <p:sldId xmlns:r="http://schemas.openxmlformats.org/officeDocument/2006/relationships" id="266" r:id="R4ee3d2d079d649b8"/>
    <p:sldId xmlns:r="http://schemas.openxmlformats.org/officeDocument/2006/relationships" id="267" r:id="R1944d642365e4493"/>
    <p:sldId xmlns:r="http://schemas.openxmlformats.org/officeDocument/2006/relationships" id="268" r:id="R16c80509a8d249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0fccac3b94daf" /><Relationship Type="http://schemas.openxmlformats.org/officeDocument/2006/relationships/slideMaster" Target="/ppt/slideMasters/slideMaster1.xml" Id="Reaa25e3d906d4e8b" /><Relationship Type="http://schemas.openxmlformats.org/officeDocument/2006/relationships/notesMaster" Target="/ppt/notesMasters/notesMaster1.xml" Id="Rab45838981b84349" /><Relationship Type="http://schemas.openxmlformats.org/officeDocument/2006/relationships/presProps" Target="/ppt/presProps.xml" Id="Rd896eb7d72e3441f" /><Relationship Type="http://schemas.openxmlformats.org/officeDocument/2006/relationships/tableStyles" Target="/ppt/tableStyles.xml" Id="Rfdef32607d2647f3" /><Relationship Type="http://schemas.openxmlformats.org/officeDocument/2006/relationships/slide" Target="/ppt/slides/slide1.xml" Id="R8c2c7c9df7db4c3f" /><Relationship Type="http://schemas.openxmlformats.org/officeDocument/2006/relationships/slide" Target="/ppt/slides/slide2.xml" Id="Rfe947f8c5f124e65" /><Relationship Type="http://schemas.openxmlformats.org/officeDocument/2006/relationships/slide" Target="/ppt/slides/slide3.xml" Id="R66119665061a4cf2" /><Relationship Type="http://schemas.openxmlformats.org/officeDocument/2006/relationships/slide" Target="/ppt/slides/slide4.xml" Id="R764a39cc31484885" /><Relationship Type="http://schemas.openxmlformats.org/officeDocument/2006/relationships/slide" Target="/ppt/slides/slide5.xml" Id="R18c4360da93942d7" /><Relationship Type="http://schemas.openxmlformats.org/officeDocument/2006/relationships/slide" Target="/ppt/slides/slide6.xml" Id="R23803a4e4ab3434f" /><Relationship Type="http://schemas.openxmlformats.org/officeDocument/2006/relationships/slide" Target="/ppt/slides/slide7.xml" Id="Rfd167a2ee50c496b" /><Relationship Type="http://schemas.openxmlformats.org/officeDocument/2006/relationships/slide" Target="/ppt/slides/slide8.xml" Id="Reee3f0cb95614e56" /><Relationship Type="http://schemas.openxmlformats.org/officeDocument/2006/relationships/slide" Target="/ppt/slides/slide9.xml" Id="Rb45ba5402f4449ff" /><Relationship Type="http://schemas.openxmlformats.org/officeDocument/2006/relationships/slide" Target="/ppt/slides/slide10.xml" Id="R069ba2f63c534f38" /><Relationship Type="http://schemas.openxmlformats.org/officeDocument/2006/relationships/slide" Target="/ppt/slides/slide11.xml" Id="R4ee3d2d079d649b8" /><Relationship Type="http://schemas.openxmlformats.org/officeDocument/2006/relationships/slide" Target="/ppt/slides/slide12.xml" Id="R1944d642365e4493" /><Relationship Type="http://schemas.openxmlformats.org/officeDocument/2006/relationships/slide" Target="/ppt/slides/slide13.xml" Id="R16c80509a8d2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49131fad2b46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d94076446461f" /><Relationship Type="http://schemas.openxmlformats.org/officeDocument/2006/relationships/notesMaster" Target="/ppt/notesMasters/notesMaster1.xml" Id="R2ab27c440c7b4b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2a4842506b4a9a" /><Relationship Type="http://schemas.openxmlformats.org/officeDocument/2006/relationships/notesMaster" Target="/ppt/notesMasters/notesMaster1.xml" Id="Rf2af735457a94c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c85fa626674834" /><Relationship Type="http://schemas.openxmlformats.org/officeDocument/2006/relationships/notesMaster" Target="/ppt/notesMasters/notesMaster1.xml" Id="R93862c55a2464e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8ce9233e2b4be6" /><Relationship Type="http://schemas.openxmlformats.org/officeDocument/2006/relationships/notesMaster" Target="/ppt/notesMasters/notesMaster1.xml" Id="R1367ac87cf3140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18987b3c9f47fc" /><Relationship Type="http://schemas.openxmlformats.org/officeDocument/2006/relationships/notesMaster" Target="/ppt/notesMasters/notesMaster1.xml" Id="R80a9ff4ecb6d4b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f59b8cb2da4add" /><Relationship Type="http://schemas.openxmlformats.org/officeDocument/2006/relationships/notesMaster" Target="/ppt/notesMasters/notesMaster1.xml" Id="R7e1025e097aa4f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728b4f2d84336" /><Relationship Type="http://schemas.openxmlformats.org/officeDocument/2006/relationships/notesMaster" Target="/ppt/notesMasters/notesMaster1.xml" Id="Rc2263748e89e48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8fd638dec44009" /><Relationship Type="http://schemas.openxmlformats.org/officeDocument/2006/relationships/notesMaster" Target="/ppt/notesMasters/notesMaster1.xml" Id="Rd6fd978c9a9748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9aae17df6d4786" /><Relationship Type="http://schemas.openxmlformats.org/officeDocument/2006/relationships/notesMaster" Target="/ppt/notesMasters/notesMaster1.xml" Id="R9cd12fcf962d4b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857027ea8496b" /><Relationship Type="http://schemas.openxmlformats.org/officeDocument/2006/relationships/notesMaster" Target="/ppt/notesMasters/notesMaster1.xml" Id="R53f621702f6c46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a856c84ee1490a" /><Relationship Type="http://schemas.openxmlformats.org/officeDocument/2006/relationships/notesMaster" Target="/ppt/notesMasters/notesMaster1.xml" Id="R11f02fa3992346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212bce14794b7c" /><Relationship Type="http://schemas.openxmlformats.org/officeDocument/2006/relationships/notesMaster" Target="/ppt/notesMasters/notesMaster1.xml" Id="R9824eaaa269d44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ecf14bf48b489f" /><Relationship Type="http://schemas.openxmlformats.org/officeDocument/2006/relationships/notesMaster" Target="/ppt/notesMasters/notesMaster1.xml" Id="R18e592ab08724c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开场先说明：今天不逐页介绍功能，而是沿着一个项目的生命周期理解整套系统。</a:t>
            </a:r>
          </a:p>
          <a:p xmlns:a="http://schemas.openxmlformats.org/drawingml/2006/main">
            <a:r>
              <a:t>核心问题有两个：项目如何按Gate推进；子零件开发如何与项目协同。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这一页先建立全局认知：系统不是把所有事情混在一个流程里。</a:t>
            </a:r>
          </a:p>
          <a:p xmlns:a="http://schemas.openxmlformats.org/drawingml/2006/main">
            <a:r>
              <a:t>左边负责项目主流程，右边负责零件和供应商的开发过程。</a:t>
            </a:r>
          </a:p>
          <a:p xmlns:a="http://schemas.openxmlformats.org/drawingml/2006/main">
            <a:r>
              <a:t>两边通过项目、BOM行、供应方案和任务号关联，但项目Gate有自己的准入逻辑。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用一条时间线讲清生命周期，不需要在这里展开每个阶段的全部任务。</a:t>
            </a:r>
          </a:p>
          <a:p xmlns:a="http://schemas.openxmlformats.org/drawingml/2006/main">
            <a:r>
              <a:t>强调标准流程覆盖Gate1到Gate6，简化流程到Gate3。</a:t>
            </a:r>
          </a:p>
          <a:p xmlns:a="http://schemas.openxmlformats.org/drawingml/2006/main">
            <a:r>
              <a:t>BW内部OTS、PPAP、SOP分别对应Gate4、Gate5、Gate6。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角色介绍要短，只讲关键交付物。</a:t>
            </a:r>
          </a:p>
          <a:p xmlns:a="http://schemas.openxmlformats.org/drawingml/2006/main">
            <a:r>
              <a:t>销售把项目送入流程；PM负责组织和推进；AE与SCM围绕BOM协同；AQE与SQD分别负责L1和子零件开发。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CKO的重点是项目能不能被正式启动。</a:t>
            </a:r>
          </a:p>
          <a:p xmlns:a="http://schemas.openxmlformats.org/drawingml/2006/main">
            <a:r>
              <a:t>PKO的重点是把关键节点、流程分支、团队和任务安排确定下来。</a:t>
            </a:r>
          </a:p>
          <a:p xmlns:a="http://schemas.openxmlformats.org/drawingml/2006/main">
            <a:r>
              <a:t>PKO结束前，AE与SCM需要完成BOM从创建到确认的协同。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Gate1必须讲清楚BOM确认与L1 APQP之间的先后关系。</a:t>
            </a:r>
          </a:p>
          <a:p xmlns:a="http://schemas.openxmlformats.org/drawingml/2006/main">
            <a:r>
              <a:t>L1 APQP关联到具体L1 BOM生效版本，默认负责人是AQE。</a:t>
            </a:r>
          </a:p>
          <a:p xmlns:a="http://schemas.openxmlformats.org/drawingml/2006/main">
            <a:r>
              <a:t>AQE可以继续拆解子零件需求，但这不是项目进入Gate2的硬前置条件。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Gate2到Gate6不是六套完全不同的逻辑，而是重复同一个管理闭环。</a:t>
            </a:r>
          </a:p>
          <a:p xmlns:a="http://schemas.openxmlformats.org/drawingml/2006/main">
            <a:r>
              <a:t>真正阻塞的是项目自身任务、必需输入、L1 APQP和项目审批状态。</a:t>
            </a:r>
          </a:p>
          <a:p xmlns:a="http://schemas.openxmlformats.org/drawingml/2006/main">
            <a:r>
              <a:t>子零件风险可以显示在审批前，但由项目团队人工判断。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这是全套系统最容易被误解的地方。</a:t>
            </a:r>
          </a:p>
          <a:p xmlns:a="http://schemas.openxmlformats.org/drawingml/2006/main">
            <a:r>
              <a:t>子零件开发任务可以手动创建，不要求全部来自项目BOM。</a:t>
            </a:r>
          </a:p>
          <a:p xmlns:a="http://schemas.openxmlformats.org/drawingml/2006/main">
            <a:r>
              <a:t>项目页面可以显示子零件任务号并跳转，但不能把子零件未完成写成项目Gate阻塞原因。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用一个L1版本链解释BOM规则。</a:t>
            </a:r>
          </a:p>
          <a:p xmlns:a="http://schemas.openxmlformats.org/drawingml/2006/main">
            <a:r>
              <a:t>第一次创建时只有工作版本，SCM确认后才成为生效版本。</a:t>
            </a:r>
          </a:p>
          <a:p xmlns:a="http://schemas.openxmlformats.org/drawingml/2006/main">
            <a:r>
              <a:t>再次编辑从当前生效版本复制，不覆盖历史；每个L1独立提交、确认和生效。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这一页用案例代替抽象规则。</a:t>
            </a:r>
          </a:p>
          <a:p xmlns:a="http://schemas.openxmlformats.org/drawingml/2006/main">
            <a:r>
              <a:t>单一供应默认只生成一供任务；二供仅备案时不生成任务；双供同步开发时两家都生成。</a:t>
            </a:r>
          </a:p>
          <a:p xmlns:a="http://schemas.openxmlformats.org/drawingml/2006/main">
            <a:r>
              <a:t>任务记录来源BOM版本、BOM行和供应方案，手动新增任务则允许没有这些来源。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BOM变化不是直接改当前任务，而是先生成版本差异，再进行影响分析。</a:t>
            </a:r>
          </a:p>
          <a:p xmlns:a="http://schemas.openxmlformats.org/drawingml/2006/main">
            <a:r>
              <a:t>删除任务不能物理删除；替换要记录旧件与新件关系；供应商变化通常需要重评。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这一页是Gate准入规则的结论页。</a:t>
            </a:r>
          </a:p>
          <a:p xmlns:a="http://schemas.openxmlformats.org/drawingml/2006/main">
            <a:r>
              <a:t>左边是系统硬条件；右边是跨模块风险信息。</a:t>
            </a:r>
          </a:p>
          <a:p xmlns:a="http://schemas.openxmlformats.org/drawingml/2006/main">
            <a:r>
              <a:t>只有当BOM变化影响项目级审批依据、L1 APQP、项目范围或交付承诺时，才可能阻塞项目Gate。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结尾用一次操作路径回顾，不再逐条复述所有规则。</a:t>
            </a:r>
          </a:p>
          <a:p xmlns:a="http://schemas.openxmlformats.org/drawingml/2006/main">
            <a:r>
              <a:t>建议实际录屏时按这七步演示一个项目，重点展示BOM确认、L1 APQP、风险提醒和Gate提交。</a:t>
            </a:r>
          </a:p>
          <a:p xmlns:a="http://schemas.openxmlformats.org/drawingml/2006/main">
            <a:r>
              <a:t>最后用三问收束：项目在哪个阶段；下一步谁来做；什么条件会影响Gate。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b73be267b44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44e96f3a1c4377" /><Relationship Type="http://schemas.openxmlformats.org/officeDocument/2006/relationships/slideLayout" Target="/ppt/slideLayouts/slideLayout1.xml" Id="R1bd8422d030c48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d8422d030c48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62f00fa7d4a00" /><Relationship Type="http://schemas.openxmlformats.org/officeDocument/2006/relationships/notesSlide" Target="/ppt/notesSlides/notesSlide1.xml" Id="Rd551f8594f954b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d30cd67264366" /><Relationship Type="http://schemas.openxmlformats.org/officeDocument/2006/relationships/notesSlide" Target="/ppt/notesSlides/notesSlide2.xml" Id="R9828773b1b0f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3cc83a0d24e41" /><Relationship Type="http://schemas.openxmlformats.org/officeDocument/2006/relationships/notesSlide" Target="/ppt/notesSlides/notesSlide3.xml" Id="R28f2987dde294c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f2f8a54a64952" /><Relationship Type="http://schemas.openxmlformats.org/officeDocument/2006/relationships/notesSlide" Target="/ppt/notesSlides/notesSlide4.xml" Id="Rd7a12caf31b9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35e106f72477c" /><Relationship Type="http://schemas.openxmlformats.org/officeDocument/2006/relationships/notesSlide" Target="/ppt/notesSlides/notesSlide5.xml" Id="Refaac3d7d68a46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40e2ddd584196" /><Relationship Type="http://schemas.openxmlformats.org/officeDocument/2006/relationships/notesSlide" Target="/ppt/notesSlides/notesSlide6.xml" Id="Re2f4b32b797642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0b7f9be6a4742" /><Relationship Type="http://schemas.openxmlformats.org/officeDocument/2006/relationships/notesSlide" Target="/ppt/notesSlides/notesSlide7.xml" Id="Rfe86275d59814a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cb12e9b894c03" /><Relationship Type="http://schemas.openxmlformats.org/officeDocument/2006/relationships/notesSlide" Target="/ppt/notesSlides/notesSlide8.xml" Id="Rb0a7914dfae044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def9a0cc145b2" /><Relationship Type="http://schemas.openxmlformats.org/officeDocument/2006/relationships/notesSlide" Target="/ppt/notesSlides/notesSlide9.xml" Id="R27f62a3cca2c45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b095db3f1437f" /><Relationship Type="http://schemas.openxmlformats.org/officeDocument/2006/relationships/notesSlide" Target="/ppt/notesSlides/notesSlide10.xml" Id="Rcbb9d68228154a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1bd807f64db8" /><Relationship Type="http://schemas.openxmlformats.org/officeDocument/2006/relationships/notesSlide" Target="/ppt/notesSlides/notesSlide11.xml" Id="R52b110f2eba045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589ae7edd400a" /><Relationship Type="http://schemas.openxmlformats.org/officeDocument/2006/relationships/notesSlide" Target="/ppt/notesSlides/notesSlide12.xml" Id="R003bbe879a754b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52422252b446d" /><Relationship Type="http://schemas.openxmlformats.org/officeDocument/2006/relationships/notesSlide" Target="/ppt/notesSlides/notesSlide13.xml" Id="R0667dac6563b49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861EC-5380-4147-9582-4B1966D7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制造业新产品开发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7B897-250F-4D09-AEB1-FD91229B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项目开发管理系统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F355D-854F-4B27-B7C5-15467CA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从项目创建、BOM与APQP，到Gate审批与项目交接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9E40D-FD0B-4146-B223-B7D876B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04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5B9B-B1BA-4083-B94F-00986C56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讲解视频配套演示文稿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E0E75-6803-467A-993B-B3353C1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22863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F9C86-EAC8-4A44-910D-72BC02AE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455D1-4F40-4BF5-A9A4-E3F826E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一条项目主线，连接两个独立管理模块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95701-C975-4259-8A72-8DD8F127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3171825" y="3171825"/>
            <a:ext cx="5848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48483-514B-4B8F-8EDE-B7EFE34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F8C94-99C1-4B3A-A9EE-F614B9C5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19050">
            <a:solidFill>
              <a:srgbClr val="1E9A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75884-034C-4BAB-B3E6-EFA1F79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574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6E07E-7BBF-48DA-8970-679A8D4E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项目开发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2963E-3A66-41ED-AEB9-B66C31E1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Gate流转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项目级任务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L1总成APQP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审批与交接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8871A-1A64-4B4B-B891-EF54A5B6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子零件开发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88AC3-5B7C-4601-AA81-3F6E72D9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0375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零件开发任务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供应商开发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子零件APQP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资料与问题追溯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DD625-A48F-4221-8197-76F68992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4322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4149E-4BDD-45DB-B4C7-2C8B4D40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协同、提醒、追溯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52214-477D-43C8-B5F4-EE0320B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子零件风险可被看见，但不作为项目Gate的系统硬阻塞</a:t>
            </a:r>
          </a:p>
        </p:txBody>
      </p:sp>
    </p:spTree>
    <p:extLst>
      <p:ext uri="{BB962C8B-B14F-4D97-AF65-F5344CB8AC3E}">
        <p14:creationId xmlns:p14="http://schemas.microsoft.com/office/powerpoint/2010/main" val="2874254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A910D-1279-48CC-BC5F-7C7A74A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DA3DE-6AB1-4F84-8F0B-74B879F1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项目沿着 CKO—PKO—Gate—交接持续推进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F17E3-FD64-43A2-87CE-65E19C1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095375" y="3000375"/>
            <a:ext cx="9382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F140F-F7D5-468C-A923-7034B119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5EDAD-D64F-4A24-BA1D-7C26E4E2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35AC2-5D19-43DF-B616-D9BA87A8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8D3D6-F9FF-4EEA-9BC5-037A53A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7B1C7-2E7C-491D-9AE6-47FACF57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B80D2-F1AD-4272-A49E-062D3E44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14BB7-378F-4187-AADD-C8B1273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A69"/>
          </a:solidFill>
          <a:ln xmlns:a="http://schemas.openxmlformats.org/drawingml/2006/main" w="0">
            <a:solidFill>
              <a:srgbClr val="1E9A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72606-456A-4060-B239-1A9C692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CKO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1CA7A-2B12-48BD-8AB2-19D0F9C3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创建项目</a:t>
            </a:r>
          </a:p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完成启动前任务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DBE93-2CC6-49DD-B3C1-6A0937B2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383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PKO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1467E-A26D-412E-8038-1B3028DE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671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启动会</a:t>
            </a:r>
          </a:p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节点与团队配置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DBE05-708C-4CF7-80A7-F7BE207F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Gate1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28E1F-5278-4734-A303-7C81F6F9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671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BOM确认</a:t>
            </a:r>
          </a:p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创建L1 APQP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9F568-0928-4ACC-BE4A-134A3197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383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Gate2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8A092-BE3F-4A23-A818-9224373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开发任务</a:t>
            </a:r>
          </a:p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阶段审批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98D7D-23AA-499A-86B1-9C504F67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Gate3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5B805-7373-4BE8-BAC6-C6CC51C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简化流程</a:t>
            </a:r>
          </a:p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可在此结束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C47DB-4055-486C-BB8C-040754B7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Gate4–6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235E3-291F-473C-BFBC-B4B630EA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OTS / PPAP / SOP</a:t>
            </a:r>
          </a:p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持续门径管控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E090E-4169-41AE-8C69-29EF6162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Hand 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9FEB4-4276-4508-BDF0-50A7D506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671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登记交接</a:t>
            </a:r>
          </a:p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9D771-05A8-4437-80B0-6FA7214C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57750"/>
            <a:ext cx="7886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D5BA7-E93B-46AE-973C-1EB8929D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196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标准流程：Gate1–Gate6   ｜   简化流程：Gate1–Gate3</a:t>
            </a:r>
          </a:p>
        </p:txBody>
      </p:sp>
    </p:spTree>
    <p:extLst>
      <p:ext uri="{BB962C8B-B14F-4D97-AF65-F5344CB8AC3E}">
        <p14:creationId xmlns:p14="http://schemas.microsoft.com/office/powerpoint/2010/main" val="2404439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5FB6C-BAF9-4C77-B3FA-C5FDDD42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FF871-9BD9-42A1-A59D-AE4B9D74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每个角色只抓住自己的关键交付物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4127C-A347-449A-ABAD-F12C5D9F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600200" y="32956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3514725" y="32956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5429250" y="32956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343775" y="32956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9258300" y="32956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FFF2D-EF62-4189-9796-B361802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581150" cy="2266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D7583-828E-4099-A1D2-104C418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A2E9B-5B68-4249-B9DB-01EA139A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289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销售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38E73-B002-4F6C-A0FB-8E0B563D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创建项目</a:t>
            </a:r>
          </a:p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完成CKO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3B328-C5D8-4409-ABE7-012AB043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90750"/>
            <a:ext cx="1581150" cy="2266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F96C8-748A-4820-91DD-70F7283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D38DD-42E6-4676-9B89-D1E5CC4D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289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38CA4-7C69-498F-8622-1590988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7662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组织PKO</a:t>
            </a:r>
          </a:p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推动Gate与审批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54E16-F578-4F5F-A5A1-10E87A5B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1581150" cy="2266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C1F70-3A8F-4D11-84CF-2B55E274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F3C14-4EA0-4130-9E54-A5327327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289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993A5-4C6D-40F2-B91E-36EEDA68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创建并维护</a:t>
            </a:r>
          </a:p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L1 BOM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54B442-BA6C-478E-B3D2-7D394784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1581150" cy="2266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16AC1-ADCF-4F9E-932B-C30117DE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5E099-2DE6-4DA5-8980-DE7EF6A3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289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4ADA0-70C1-4EF4-9BF5-9B861837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7662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确认BOM</a:t>
            </a:r>
          </a:p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维护供应方案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49D62-F100-4F7B-ACBD-6A13F2E6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581150" cy="2266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DF4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F1477C-109C-4511-B015-EA0BFEE0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D824B-F313-4DEB-8FBC-C0BF0D6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289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AQE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B3ED76-6757-470D-96C7-C166336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负责L1 APQP</a:t>
            </a:r>
          </a:p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识别零件需求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8608C-56BD-486D-8BF8-BC32301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190750"/>
            <a:ext cx="1581150" cy="22669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DF4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5814C1-C817-4674-B4CF-E56D4265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81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05BBFA-6425-45C8-AF9F-20A1AF36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289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SQD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3A5028-86DB-4CEE-B29B-99A1C909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76625"/>
            <a:ext cx="123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推进零件与</a:t>
            </a:r>
          </a:p>
          <a:p xmlns:a="http://schemas.openxmlformats.org/drawingml/2006/main">
            <a:pPr algn="l">
              <a:def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供应商开发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3DD368-5C41-4125-ADF1-CEE56AEA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97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讲页面时始终回答三个问题：谁来做？什么时候做？做完产生什么结果？</a:t>
            </a:r>
          </a:p>
        </p:txBody>
      </p:sp>
    </p:spTree>
    <p:extLst>
      <p:ext uri="{BB962C8B-B14F-4D97-AF65-F5344CB8AC3E}">
        <p14:creationId xmlns:p14="http://schemas.microsoft.com/office/powerpoint/2010/main" val="1160251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3609A-962D-4A02-AE11-F9825E88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4ACBE-9535-4C57-B1C6-D91CCD66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CKO建立项目，PKO把目标、团队和计划对齐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01695-A52C-427C-AF97-DA70D41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6096000" y="1762125"/>
            <a:ext cx="0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AB6F7-CDCB-4081-9D58-F4BF48D2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7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CFE21-E280-40B9-AAB2-4B28DD27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CKO｜项目启动前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C8362-798A-46B2-9A02-CEEFF9DD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销售创建项目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97019-2ACD-4847-A53A-4BD0F865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填写项目基础信息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完成系统默认CKO任务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提交后进入PKO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B04A3-D7E6-4931-B772-74272786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7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A00"/>
          </a:solidFill>
          <a:ln xmlns:a="http://schemas.openxmlformats.org/drawingml/2006/main" w="0">
            <a:solidFill>
              <a:srgbClr val="D68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FCC70-94AC-4820-8D85-67427C38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049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PKO｜项目正式启动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06254-8269-48E3-8D94-B0171B7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PM组织跨职能启动会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A5320-7689-4114-BCCF-AFCFB0D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配置客户与BW关键节点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选择标准或简化流程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配置团队并分配任务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推动AE创建、SCM确认BOM</a:t>
            </a:r>
          </a:p>
        </p:txBody>
      </p:sp>
    </p:spTree>
    <p:extLst>
      <p:ext uri="{BB962C8B-B14F-4D97-AF65-F5344CB8AC3E}">
        <p14:creationId xmlns:p14="http://schemas.microsoft.com/office/powerpoint/2010/main" val="6148063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DF766-FD0B-4369-9434-F4C1BB44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4E767-6572-491C-8F3C-693D604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Gate1的核心，是用已生效BOM建立L1总成APQP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8AB75-6F11-4B0C-8AEC-9A557333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2095500" y="3067050"/>
            <a:ext cx="800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5AD74-C152-4AB6-823B-A0573AE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095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DEA8F-0C4B-420D-B79D-5B86D3AB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ECDC1-BF97-4991-BB3E-625E0279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提交L1 BOM</a:t>
            </a:r>
          </a:p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工作版本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3DFAF-62D2-4020-B477-92DE2C95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095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964FD-446C-4CB0-B037-5C7FCB95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665FF-E934-490E-BB47-3AC25B0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确认并锁定</a:t>
            </a:r>
          </a:p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生效版本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F53EA-8E91-4843-8A47-A37DC37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095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29018-2D45-4ADA-B1C2-3558021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AB9CC-4ADD-42B0-81ED-FD853191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创建L1</a:t>
            </a:r>
          </a:p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总成APQP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2C326-03B4-4221-B149-AC9D7E3F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095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DF4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AD081-DDF0-42FA-AFA5-10758FA4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19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AQE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CEA19-5F32-4D63-B72B-BBDC59B5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1676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接收计划并</a:t>
            </a:r>
          </a:p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识别零件需求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DF5F4-BE23-4E0A-AB6D-9043D216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942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3E3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7895E-6028-40CA-9879-842ED13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482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项目进入Gate2，不要求所有子零件任务已经创建或完成分配</a:t>
            </a:r>
          </a:p>
        </p:txBody>
      </p:sp>
    </p:spTree>
    <p:extLst>
      <p:ext uri="{BB962C8B-B14F-4D97-AF65-F5344CB8AC3E}">
        <p14:creationId xmlns:p14="http://schemas.microsoft.com/office/powerpoint/2010/main" val="5065957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B385E-F3D2-4390-8C34-AF7F323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9454E-9EA6-48D6-BE7E-8127E3A5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Gate2–6重复同一套管理闭环，PM主导推进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64FC8-9E33-49AE-A5A5-6549FFD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2686050" y="2705100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9505950" y="27051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2686050" y="4705350"/>
            <a:ext cx="6819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2686050" y="27051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F312A-0611-4F00-8467-F4B35103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00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6C998-DB88-48E4-8A09-296B18C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71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31587-16D0-420E-B0D8-531CBAB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1621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052B5-491C-419B-A98B-DB959F78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622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PM明确当前Gate交付物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CF34E-29CA-4196-8C33-9C32C9B1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53DDE-40E7-4903-BC9A-A449033B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71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4DBC5-88E0-4635-A83A-BC88214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1621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职能执行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283DA-3FE9-4D3C-8BFB-9E9F4FDA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622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团队反馈完成情况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CE17F-5AF0-4BAD-B56E-F43EAECA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27D21-3650-4377-B669-85C1239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71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7B27A-5F36-4F63-84A0-0E963CFE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621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准入检查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F7E33-D597-48FF-BDC1-73C0845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622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检查项目级条件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DB46F-158D-4D7C-9D56-90D68EC2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00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DF4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CF351-E179-4D25-86AD-22B3F2F6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10BDD-6D57-4496-BA83-D412FEBE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624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Gate审批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CDAC2-0189-495A-81E1-0DAE04E0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625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通过／驳回／条件通过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93834-97D7-4DA2-977D-4DC61CA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0050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DF4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0BF1C-DBAC-4209-B155-5431FFE2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06293E-3995-467F-A6F6-097DC03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1624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进入下一阶段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E85A8-41BE-42A5-AEFE-4D9E5C15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7625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继续执行，直至交接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FFCBA3-B75A-4608-B68C-E90AB29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未闭环的项目任务和项目级审批事项会阻塞；子零件风险只做提醒</a:t>
            </a:r>
          </a:p>
        </p:txBody>
      </p:sp>
    </p:spTree>
    <p:extLst>
      <p:ext uri="{BB962C8B-B14F-4D97-AF65-F5344CB8AC3E}">
        <p14:creationId xmlns:p14="http://schemas.microsoft.com/office/powerpoint/2010/main" val="4308345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CCC0F-55D3-4642-BB28-34132B3B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A6D9C-796E-480F-9041-1E9B1449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关联不等于合并：两个模块各自管理、各自推进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A6CAF-9900-4CFF-9F31-6B1C36B3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18345-02D7-4556-836D-E7CEAD45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4673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2B9DE-8AF4-429B-894F-934E7FC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54673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19050">
            <a:solidFill>
              <a:srgbClr val="1E9A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51E46-6294-46FC-BE8C-19170938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项目开发模块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15072-BFB5-4309-82B0-9FC3290A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项目Gate与审批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项目级任务和必需输入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项目级BOM与L1总成APQP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Hand Over交接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79C95-9C41-4800-A3D9-B12AB363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子零件开发模块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57D3A-C90A-4DF1-9FC3-99B35F49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零件＋供应商开发任务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子零件APQP和自身阶段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供应商过程、资料与问题</a:t>
            </a:r>
          </a:p>
          <a:p xmlns:a="http://schemas.openxmlformats.org/drawingml/2006/main">
            <a:pPr algn="l">
              <a:def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• 支持BOM创建或手动新增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B5B47-6471-4A4C-B64E-76AC77D2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81625"/>
            <a:ext cx="7524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837A0-4E26-4161-81FF-7AB09ECE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05450"/>
            <a:ext cx="693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风险可以跨模块展示，项目Gate仍按项目级条件判断</a:t>
            </a:r>
          </a:p>
        </p:txBody>
      </p:sp>
    </p:spTree>
    <p:extLst>
      <p:ext uri="{BB962C8B-B14F-4D97-AF65-F5344CB8AC3E}">
        <p14:creationId xmlns:p14="http://schemas.microsoft.com/office/powerpoint/2010/main" val="5296363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C156F-11A1-4E7F-B94B-C39D573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B8670-F92A-4475-8436-A3EA2D69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BOM按L1总成独立升版，历史版本始终保留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05FF9-4368-441B-8171-AA32B8DC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714500" y="333375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47C6-654C-404A-89C8-9B0CD706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20478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C0F1C-5E6F-4ECC-922B-82A44CB4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PKO_V1.0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E8829-BF5C-4B8A-B866-934C6CA1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33750"/>
            <a:ext cx="1704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已锁定生效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365A4-A3F6-40ED-B0B0-EC6D94B0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D2B45-D87F-4219-9411-31FA32C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62200"/>
            <a:ext cx="20478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C7AF5-1DFD-440B-8E9F-03540B6F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8605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PKO_V2.0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1B51C-D6CC-477B-A170-38217FD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333750"/>
            <a:ext cx="1704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复制形成工作版本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C2265-4053-4F37-9CDD-697526DA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14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3DE9D-9FA7-48E8-9481-15D42C4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62200"/>
            <a:ext cx="20478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D6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63AFF-CCE3-42E3-9989-C4A77B70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8605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PKO_V2.0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200C7-B385-4C19-B7D3-D3081CE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33750"/>
            <a:ext cx="1704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AE提交，待SCM确认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1C3FF-86D9-4B4E-AABB-5CEE4CA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14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AECAF-4639-4C33-AF9D-367E285C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62200"/>
            <a:ext cx="20478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19050">
            <a:solidFill>
              <a:srgbClr val="1E9A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2CEDA-C966-4BA4-BC37-68FE7353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86050"/>
            <a:ext cx="1704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PKO_V2.0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B05A0-D854-4380-8C46-33383B7C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33750"/>
            <a:ext cx="17049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确认后成为当前生效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09883-9ADE-4748-86A6-2461D865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69B45-F2C9-444D-BBA5-4D594E86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A总成变化，只给A生成新版本；B总成不随之升版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9410C-43FB-45F1-B443-31377A0A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项目BOM只是容器，不承载统一的项目级正式版本号</a:t>
            </a:r>
          </a:p>
        </p:txBody>
      </p:sp>
    </p:spTree>
    <p:extLst>
      <p:ext uri="{BB962C8B-B14F-4D97-AF65-F5344CB8AC3E}">
        <p14:creationId xmlns:p14="http://schemas.microsoft.com/office/powerpoint/2010/main" val="12808206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E47FF-0B8A-45FE-BF68-E9152771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F210-13D9-4D55-AECB-3AFBF91D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子零件任务按“零件＋供应商方案”生成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2FB5E-C9CB-402C-8C46-95B959AA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DE612-9E4D-4342-A2DB-BA46A1A5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示例：零件 P1 配置两家供应商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EAB6C-0E54-4E2A-9436-315B5FE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FB75A-FBB9-491B-9AF0-4FE1E39C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524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EDF2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D7A8F-B081-45FE-A23C-497B62DF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524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19050">
            <a:solidFill>
              <a:srgbClr val="1E9A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E41DD-D78F-4BD9-A79A-FDD1B10D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一供｜供应商A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7D5BA-E080-4DEE-9394-55D69AD5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策略：需要开发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结果：创建 P1-A 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C5C0F-4780-4ACD-870F-26F5185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二供｜供应商B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CC887-1AC3-4319-80F6-E171AF8D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策略：仅备案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结果：不创建 P1-B 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55C01-EDDA-4754-B55F-BDBBA420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28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策略发生变化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8091F-07F9-4793-B20E-B2F39F54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90875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改为“双供同步开发”</a:t>
            </a:r>
          </a:p>
          <a:p xmlns:a="http://schemas.openxmlformats.org/drawingml/2006/main">
            <a:pPr algn="l">
              <a:def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结果：创建 P1-B 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775AE-B57B-4C50-AE65-089B7BE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19700"/>
            <a:ext cx="85344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F6C1A-DE1E-4A11-BB9D-C744291C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435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同一个零件可能对应多条独立的供应商开发任务</a:t>
            </a:r>
          </a:p>
        </p:txBody>
      </p:sp>
    </p:spTree>
    <p:extLst>
      <p:ext uri="{BB962C8B-B14F-4D97-AF65-F5344CB8AC3E}">
        <p14:creationId xmlns:p14="http://schemas.microsoft.com/office/powerpoint/2010/main" val="5709296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AD945-9232-4343-B200-5D9EF65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20483-D487-45B5-89D9-A31B32EF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BOM变更先做影响分析，再决定任务如何同步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3EC20-9524-4B2A-AF19-D0AFF388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54C2-3C7A-4078-BFC2-CD52B45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CFF"/>
          </a:solidFill>
          <a:ln xmlns:a="http://schemas.openxmlformats.org/drawingml/2006/main" w="9525">
            <a:solidFill>
              <a:srgbClr val="D9E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CB7AF-01E8-42D7-9DF8-4104EBDD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新增零件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0EA2B-AC88-40C8-B48B-5BCCD0D0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62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判断是否新建任务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4D6E2-9F3E-4BE1-8112-95A1FB5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6687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E3E3"/>
          </a:solidFill>
          <a:ln xmlns:a="http://schemas.openxmlformats.org/drawingml/2006/main" w="9525">
            <a:solidFill>
              <a:srgbClr val="FBE3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FDB6E-E017-41E8-84CE-C37E06A1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145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删除零件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C6E80-BEFE-4733-AEB5-CCF9F42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62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关闭或取消，保留历史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55272-8F4A-40CD-AA56-EF69AD3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9525">
            <a:solidFill>
              <a:srgbClr val="FFF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01058-C5DD-4310-8B2C-6FCF7EA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替换零件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353E8-76C6-4D7F-BF26-052CB4AF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771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继承、部分重做或重建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A0E41-59BC-41EB-B5E5-0282080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42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DF4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1EBDC-8410-48D4-BD4A-AF0D209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24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供应商变化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CE30C-F840-4DEE-9ED6-237E599F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71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重评供应商开发任务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80764-882B-430F-BC5E-99A75574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1975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变更不能直接破坏已生成任务，也不能物理覆盖历史记录</a:t>
            </a:r>
          </a:p>
        </p:txBody>
      </p:sp>
    </p:spTree>
    <p:extLst>
      <p:ext uri="{BB962C8B-B14F-4D97-AF65-F5344CB8AC3E}">
        <p14:creationId xmlns:p14="http://schemas.microsoft.com/office/powerpoint/2010/main" val="506001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3C3CC-57A6-4DB0-BE4B-7C0C7018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34929-8B01-47AD-90C7-CF84A2C6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项目Gate由项目级条件管控，零件问题仅提示风险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F11A6-9035-43F1-8960-4C94A64F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32465-7D74-4AB3-AD8C-3390077A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4673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BE3E3"/>
          </a:solidFill>
          <a:ln xmlns:a="http://schemas.openxmlformats.org/drawingml/2006/main" w="19050">
            <a:solidFill>
              <a:srgbClr val="D64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7625B-33F9-4B15-AEDD-53621FCA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71625"/>
            <a:ext cx="54673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19050">
            <a:solidFill>
              <a:srgbClr val="1E9A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F3344-66A7-4D9F-B811-4D26972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64545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D64545"/>
                </a:solidFill>
                <a:latin typeface="PingFang SC"/>
                <a:ea typeface="PingFang SC"/>
                <a:cs typeface="PingFang SC"/>
              </a:rPr>
              <a:t>会阻塞项目Gate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78242-265F-466D-A48E-BA73D582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667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当前Gate项目任务未完成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项目级必需输入缺失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L1总成APQP不满足审批要求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项目级审批或整改未闭环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影响当前审批依据的L1 BOM未确认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94D9E-3A84-48A9-AF92-F99F6E0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E9A69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E9A69"/>
                </a:solidFill>
                <a:latin typeface="PingFang SC"/>
                <a:ea typeface="PingFang SC"/>
                <a:cs typeface="PingFang SC"/>
              </a:rPr>
              <a:t>默认不阻塞，仅提示风险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8CAF9-5A47-49C5-943E-1C16D66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667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子零件任务未创建或未完成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子零件APQP进行中或未关闭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供应商开发任务未完成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二供同步开发尚未启动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仅影响零件任务的BOM变更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B3B5A-E035-463D-B950-EF56DDD5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最终是否继续推进，由项目团队结合风险、承诺和审批意见人工判断</a:t>
            </a:r>
          </a:p>
        </p:txBody>
      </p:sp>
    </p:spTree>
    <p:extLst>
      <p:ext uri="{BB962C8B-B14F-4D97-AF65-F5344CB8AC3E}">
        <p14:creationId xmlns:p14="http://schemas.microsoft.com/office/powerpoint/2010/main" val="18025386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25EB9-4C77-4B58-AEF4-827DB9DD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项目开发全生命周期管理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B903D-0F6C-4147-9B47-BA43717E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用一次完整操作，把前面的规则串成闭环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8B9C9-ACA9-4189-BA32-46DB2897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857250" y="32385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34962-6394-4D0C-A714-CCE2C95B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944E9-6B1F-4CB0-8914-45AC7792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24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4ABE4-E8D5-45DC-8E71-E054A43C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销售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DDC43-D55E-4B15-A4A6-EA255611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2B67E-43EC-4663-8F3A-AB733706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24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ABBBA-90FB-4321-B6B7-04BED317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0955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PM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完成PKO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D4827-9B2B-4C31-8AB8-608B9B8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31756-726B-4F2F-BED9-442B51C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24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BE958-C846-4C28-A09B-C6E69A35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955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AE / SCM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确认BOM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49817-57B4-4040-BDA2-BBC8E54C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15BEB-5654-45D5-B8A6-ECAB0309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24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02031-8751-42C4-A8B1-E663E80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955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PM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创建L1 APQP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8F759-47F7-45D3-BCF8-D6FA47CC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79F32-F8F0-4A2A-8D30-0414FFB4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24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26023-1444-4D81-ACFA-5225402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955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AQE / SQD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关联零件任务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E5C5D-C918-41B3-92B2-D385D8D2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0EDD9-02FD-42DE-921F-BE94EEF0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24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DB91C-6EC4-4ABB-BB0C-A3FB77E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955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PM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提交Gate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8DBEE-706A-41A4-AFFB-5AAAAE4B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A69"/>
          </a:solidFill>
          <a:ln xmlns:a="http://schemas.openxmlformats.org/drawingml/2006/main" w="0">
            <a:solidFill>
              <a:srgbClr val="1E9A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A4C48-9C53-420B-9D92-60EC94C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24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FC26E-2D97-433C-B484-1F1C4AD1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0955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团队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审批与交接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AE46D-BAB1-430D-8387-6A3F57C6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76750"/>
            <a:ext cx="866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2A21C-3C09-4AAF-A7CA-7C0F255D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67250"/>
            <a:ext cx="7962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主线按Gate推进｜BOM按L1独立版本｜L1 APQP管项目准入｜子零件风险不硬阻塞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EBC4E-90A0-4554-BE92-F09CE0FA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E6572"/>
                </a:solidFill>
                <a:latin typeface="PingFang SC"/>
                <a:ea typeface="PingFang SC"/>
                <a:cs typeface="PingFang SC"/>
              </a:rPr>
              <a:t>讲解结束后，听众应能回答：项目在哪里？下一步谁来做？什么会影响Gate？</a:t>
            </a:r>
          </a:p>
        </p:txBody>
      </p:sp>
    </p:spTree>
    <p:extLst>
      <p:ext uri="{BB962C8B-B14F-4D97-AF65-F5344CB8AC3E}">
        <p14:creationId xmlns:p14="http://schemas.microsoft.com/office/powerpoint/2010/main" val="1055335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2026-07-20T10:39:15.3550000Z</dcterms:created>
  <dcterms:modified xsi:type="dcterms:W3CDTF">2026-07-20T10:39:15.3550000Z</dcterms:modified>
</coreProperties>
</file>